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9" r:id="rId3"/>
    <p:sldId id="260" r:id="rId4"/>
    <p:sldId id="258" r:id="rId5"/>
    <p:sldId id="262" r:id="rId6"/>
    <p:sldId id="263" r:id="rId7"/>
    <p:sldId id="264" r:id="rId8"/>
    <p:sldId id="265" r:id="rId9"/>
    <p:sldId id="273" r:id="rId10"/>
    <p:sldId id="266" r:id="rId11"/>
    <p:sldId id="269" r:id="rId12"/>
    <p:sldId id="272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980" autoAdjust="0"/>
  </p:normalViewPr>
  <p:slideViewPr>
    <p:cSldViewPr snapToGrid="0">
      <p:cViewPr varScale="1">
        <p:scale>
          <a:sx n="79" d="100"/>
          <a:sy n="79" d="100"/>
        </p:scale>
        <p:origin x="835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rthik Madhamanchi" userId="d3e8ff29354c82f8" providerId="LiveId" clId="{DA2D4DD0-9613-4EB9-AA19-348C74D8AE95}"/>
    <pc:docChg chg="modSld">
      <pc:chgData name="Karthik Madhamanchi" userId="d3e8ff29354c82f8" providerId="LiveId" clId="{DA2D4DD0-9613-4EB9-AA19-348C74D8AE95}" dt="2026-02-13T12:52:07.675" v="0" actId="20577"/>
      <pc:docMkLst>
        <pc:docMk/>
      </pc:docMkLst>
      <pc:sldChg chg="modSp mod">
        <pc:chgData name="Karthik Madhamanchi" userId="d3e8ff29354c82f8" providerId="LiveId" clId="{DA2D4DD0-9613-4EB9-AA19-348C74D8AE95}" dt="2026-02-13T12:52:07.675" v="0" actId="20577"/>
        <pc:sldMkLst>
          <pc:docMk/>
          <pc:sldMk cId="1890650960" sldId="256"/>
        </pc:sldMkLst>
        <pc:spChg chg="mod">
          <ac:chgData name="Karthik Madhamanchi" userId="d3e8ff29354c82f8" providerId="LiveId" clId="{DA2D4DD0-9613-4EB9-AA19-348C74D8AE95}" dt="2026-02-13T12:52:07.675" v="0" actId="20577"/>
          <ac:spMkLst>
            <pc:docMk/>
            <pc:sldMk cId="1890650960" sldId="256"/>
            <ac:spMk id="2" creationId="{8334ED97-0152-2D7B-5998-B5F40375B9A3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A513DB5-F21F-4571-BCF5-B10803894CF0}" type="doc">
      <dgm:prSet loTypeId="urn:microsoft.com/office/officeart/2005/8/layout/list1" loCatId="list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A230B5C-6E6B-467E-8162-037E075CBB86}">
      <dgm:prSet custT="1"/>
      <dgm:spPr>
        <a:solidFill>
          <a:srgbClr val="FF0000"/>
        </a:solidFill>
      </dgm:spPr>
      <dgm:t>
        <a:bodyPr/>
        <a:lstStyle/>
        <a:p>
          <a:r>
            <a:rPr lang="en-US" sz="1800" b="1" dirty="0"/>
            <a:t>Has Online Delivery :</a:t>
          </a:r>
          <a:endParaRPr lang="en-US" sz="1800" dirty="0"/>
        </a:p>
      </dgm:t>
    </dgm:pt>
    <dgm:pt modelId="{63AAD4E2-35BC-4875-8D20-A3B8FC359AA2}" type="parTrans" cxnId="{90618EE4-40B7-4DE6-A6F7-84E3AE0730AA}">
      <dgm:prSet/>
      <dgm:spPr/>
      <dgm:t>
        <a:bodyPr/>
        <a:lstStyle/>
        <a:p>
          <a:endParaRPr lang="en-US"/>
        </a:p>
      </dgm:t>
    </dgm:pt>
    <dgm:pt modelId="{F41716B8-A080-4012-AD53-54172CD28A8D}" type="sibTrans" cxnId="{90618EE4-40B7-4DE6-A6F7-84E3AE0730AA}">
      <dgm:prSet/>
      <dgm:spPr/>
      <dgm:t>
        <a:bodyPr/>
        <a:lstStyle/>
        <a:p>
          <a:endParaRPr lang="en-US"/>
        </a:p>
      </dgm:t>
    </dgm:pt>
    <dgm:pt modelId="{A97E7723-5599-4EB8-93C4-3976E04863D7}">
      <dgm:prSet custT="1"/>
      <dgm:spPr/>
      <dgm:t>
        <a:bodyPr/>
        <a:lstStyle/>
        <a:p>
          <a:r>
            <a:rPr lang="en-US" sz="1800" b="1" dirty="0"/>
            <a:t>25.65%</a:t>
          </a:r>
          <a:r>
            <a:rPr lang="en-US" sz="1800" dirty="0"/>
            <a:t> of restaurants provide online delivery, which is higher than table booking adoption.</a:t>
          </a:r>
        </a:p>
      </dgm:t>
    </dgm:pt>
    <dgm:pt modelId="{06EA7743-F736-480E-8F73-205B99206E99}" type="parTrans" cxnId="{34D18021-171C-4497-9A44-17A34310A0D4}">
      <dgm:prSet/>
      <dgm:spPr/>
      <dgm:t>
        <a:bodyPr/>
        <a:lstStyle/>
        <a:p>
          <a:endParaRPr lang="en-US"/>
        </a:p>
      </dgm:t>
    </dgm:pt>
    <dgm:pt modelId="{C20B82E1-CBEF-4768-A23B-ECF5F0AD26CE}" type="sibTrans" cxnId="{34D18021-171C-4497-9A44-17A34310A0D4}">
      <dgm:prSet/>
      <dgm:spPr/>
      <dgm:t>
        <a:bodyPr/>
        <a:lstStyle/>
        <a:p>
          <a:endParaRPr lang="en-US"/>
        </a:p>
      </dgm:t>
    </dgm:pt>
    <dgm:pt modelId="{031DA2A9-8553-43BA-8F72-EC8E1EB754AC}">
      <dgm:prSet custT="1"/>
      <dgm:spPr>
        <a:solidFill>
          <a:srgbClr val="FF0000"/>
        </a:solidFill>
      </dgm:spPr>
      <dgm:t>
        <a:bodyPr/>
        <a:lstStyle/>
        <a:p>
          <a:r>
            <a:rPr lang="en-US" sz="1800" b="1" dirty="0"/>
            <a:t>Has Table Booking:</a:t>
          </a:r>
          <a:endParaRPr lang="en-US" sz="1800" dirty="0"/>
        </a:p>
      </dgm:t>
    </dgm:pt>
    <dgm:pt modelId="{D3CBF833-1AD3-4376-9312-70F622B9C1FE}" type="parTrans" cxnId="{9F643119-8091-435D-A6C5-59DF6F4F6B95}">
      <dgm:prSet/>
      <dgm:spPr/>
      <dgm:t>
        <a:bodyPr/>
        <a:lstStyle/>
        <a:p>
          <a:endParaRPr lang="en-US"/>
        </a:p>
      </dgm:t>
    </dgm:pt>
    <dgm:pt modelId="{E6119DD6-C93D-443B-B41D-57023A205673}" type="sibTrans" cxnId="{9F643119-8091-435D-A6C5-59DF6F4F6B95}">
      <dgm:prSet/>
      <dgm:spPr/>
      <dgm:t>
        <a:bodyPr/>
        <a:lstStyle/>
        <a:p>
          <a:endParaRPr lang="en-US"/>
        </a:p>
      </dgm:t>
    </dgm:pt>
    <dgm:pt modelId="{1855858A-6405-48BE-A7E6-D3FE19C4CE98}">
      <dgm:prSet custT="1"/>
      <dgm:spPr/>
      <dgm:t>
        <a:bodyPr/>
        <a:lstStyle/>
        <a:p>
          <a:r>
            <a:rPr lang="en-US" sz="1800" dirty="0"/>
            <a:t>Only </a:t>
          </a:r>
          <a:r>
            <a:rPr lang="en-US" sz="1800" b="1" dirty="0"/>
            <a:t>12.12%</a:t>
          </a:r>
          <a:r>
            <a:rPr lang="en-US" sz="1800" dirty="0"/>
            <a:t> of restaurants offer table booking, showing very low adoption.</a:t>
          </a:r>
        </a:p>
      </dgm:t>
    </dgm:pt>
    <dgm:pt modelId="{3DCC9C8B-999F-42F2-8F24-81ADF999836E}" type="parTrans" cxnId="{C4855D64-2B21-40F0-B409-454886F4A594}">
      <dgm:prSet/>
      <dgm:spPr/>
      <dgm:t>
        <a:bodyPr/>
        <a:lstStyle/>
        <a:p>
          <a:endParaRPr lang="en-US"/>
        </a:p>
      </dgm:t>
    </dgm:pt>
    <dgm:pt modelId="{480DBAA5-43D4-4AB3-A763-5248DFEA03EE}" type="sibTrans" cxnId="{C4855D64-2B21-40F0-B409-454886F4A594}">
      <dgm:prSet/>
      <dgm:spPr/>
      <dgm:t>
        <a:bodyPr/>
        <a:lstStyle/>
        <a:p>
          <a:endParaRPr lang="en-US"/>
        </a:p>
      </dgm:t>
    </dgm:pt>
    <dgm:pt modelId="{9D53E049-AC2E-4DA4-BB2F-84178B723A37}">
      <dgm:prSet custT="1"/>
      <dgm:spPr/>
      <dgm:t>
        <a:bodyPr/>
        <a:lstStyle/>
        <a:p>
          <a:r>
            <a:rPr lang="en-US" sz="1800" dirty="0"/>
            <a:t>The majority (</a:t>
          </a:r>
          <a:r>
            <a:rPr lang="en-US" sz="1800" b="1" dirty="0"/>
            <a:t>74.35%</a:t>
          </a:r>
          <a:r>
            <a:rPr lang="en-US" sz="1800" dirty="0"/>
            <a:t>) still do not offer delivery services.</a:t>
          </a:r>
        </a:p>
      </dgm:t>
    </dgm:pt>
    <dgm:pt modelId="{53B8D8BB-B8C0-4F88-BBFA-0379E13BD792}" type="parTrans" cxnId="{9F71F96F-C163-4556-9861-5BC7AC715EAB}">
      <dgm:prSet/>
      <dgm:spPr/>
      <dgm:t>
        <a:bodyPr/>
        <a:lstStyle/>
        <a:p>
          <a:endParaRPr lang="en-IN"/>
        </a:p>
      </dgm:t>
    </dgm:pt>
    <dgm:pt modelId="{A4F7E0F6-F056-4723-BD1C-348D5225A194}" type="sibTrans" cxnId="{9F71F96F-C163-4556-9861-5BC7AC715EAB}">
      <dgm:prSet/>
      <dgm:spPr/>
      <dgm:t>
        <a:bodyPr/>
        <a:lstStyle/>
        <a:p>
          <a:endParaRPr lang="en-IN"/>
        </a:p>
      </dgm:t>
    </dgm:pt>
    <dgm:pt modelId="{9E873668-C0DB-4745-AFAF-8B6B649D98BF}">
      <dgm:prSet custT="1"/>
      <dgm:spPr/>
      <dgm:t>
        <a:bodyPr/>
        <a:lstStyle/>
        <a:p>
          <a:r>
            <a:rPr lang="en-US" sz="1800" dirty="0"/>
            <a:t>Reflects a growing but not fully digital food delivery market.</a:t>
          </a:r>
        </a:p>
      </dgm:t>
    </dgm:pt>
    <dgm:pt modelId="{1304139F-6121-49FA-BBE9-9203A6753163}" type="parTrans" cxnId="{3DB71632-75C0-4267-8375-2B9EF2A7FB3C}">
      <dgm:prSet/>
      <dgm:spPr/>
      <dgm:t>
        <a:bodyPr/>
        <a:lstStyle/>
        <a:p>
          <a:endParaRPr lang="en-IN"/>
        </a:p>
      </dgm:t>
    </dgm:pt>
    <dgm:pt modelId="{030E8DF1-0212-41A8-807B-3DE2895C02F2}" type="sibTrans" cxnId="{3DB71632-75C0-4267-8375-2B9EF2A7FB3C}">
      <dgm:prSet/>
      <dgm:spPr/>
      <dgm:t>
        <a:bodyPr/>
        <a:lstStyle/>
        <a:p>
          <a:endParaRPr lang="en-IN"/>
        </a:p>
      </dgm:t>
    </dgm:pt>
    <dgm:pt modelId="{8701AA85-44C7-4137-879E-EDAF9C397FC3}">
      <dgm:prSet custT="1"/>
      <dgm:spPr/>
      <dgm:t>
        <a:bodyPr/>
        <a:lstStyle/>
        <a:p>
          <a:r>
            <a:rPr lang="en-US" sz="1800" dirty="0"/>
            <a:t>The majority (</a:t>
          </a:r>
          <a:r>
            <a:rPr lang="en-US" sz="1800" b="1" dirty="0"/>
            <a:t>87.88%</a:t>
          </a:r>
          <a:r>
            <a:rPr lang="en-US" sz="1800" dirty="0"/>
            <a:t>) operate without reservation facilities.</a:t>
          </a:r>
        </a:p>
      </dgm:t>
    </dgm:pt>
    <dgm:pt modelId="{999EB56A-98E1-40AA-92C5-EF547ABEF347}" type="parTrans" cxnId="{95EB7B76-9AF5-4099-BC55-CFFF2623C4BA}">
      <dgm:prSet/>
      <dgm:spPr/>
      <dgm:t>
        <a:bodyPr/>
        <a:lstStyle/>
        <a:p>
          <a:endParaRPr lang="en-IN"/>
        </a:p>
      </dgm:t>
    </dgm:pt>
    <dgm:pt modelId="{A4D33E8E-6AEC-4F32-9F0F-BC422FDD3D2D}" type="sibTrans" cxnId="{95EB7B76-9AF5-4099-BC55-CFFF2623C4BA}">
      <dgm:prSet/>
      <dgm:spPr/>
      <dgm:t>
        <a:bodyPr/>
        <a:lstStyle/>
        <a:p>
          <a:endParaRPr lang="en-IN"/>
        </a:p>
      </dgm:t>
    </dgm:pt>
    <dgm:pt modelId="{9A29E80B-C60F-4C81-BB28-7939CDB58654}">
      <dgm:prSet custT="1"/>
      <dgm:spPr/>
      <dgm:t>
        <a:bodyPr/>
        <a:lstStyle/>
        <a:p>
          <a:r>
            <a:rPr lang="en-US" sz="1800" dirty="0"/>
            <a:t>Indicates that most restaurants focus more on walk-in or delivery-based services rather than premium dine-in experience.</a:t>
          </a:r>
        </a:p>
      </dgm:t>
    </dgm:pt>
    <dgm:pt modelId="{7C846AA7-8093-40FC-8D6C-CF665083A7C4}" type="parTrans" cxnId="{865221BD-182A-46F7-BFE1-7B806C7F9AEC}">
      <dgm:prSet/>
      <dgm:spPr/>
      <dgm:t>
        <a:bodyPr/>
        <a:lstStyle/>
        <a:p>
          <a:endParaRPr lang="en-IN"/>
        </a:p>
      </dgm:t>
    </dgm:pt>
    <dgm:pt modelId="{7A4E245D-A35E-4244-AFD2-9DEE96D002A9}" type="sibTrans" cxnId="{865221BD-182A-46F7-BFE1-7B806C7F9AEC}">
      <dgm:prSet/>
      <dgm:spPr/>
      <dgm:t>
        <a:bodyPr/>
        <a:lstStyle/>
        <a:p>
          <a:endParaRPr lang="en-IN"/>
        </a:p>
      </dgm:t>
    </dgm:pt>
    <dgm:pt modelId="{78E67501-7A9A-4DB6-8377-CB9FEB050DE3}" type="pres">
      <dgm:prSet presAssocID="{8A513DB5-F21F-4571-BCF5-B10803894CF0}" presName="linear" presStyleCnt="0">
        <dgm:presLayoutVars>
          <dgm:dir/>
          <dgm:animLvl val="lvl"/>
          <dgm:resizeHandles val="exact"/>
        </dgm:presLayoutVars>
      </dgm:prSet>
      <dgm:spPr/>
    </dgm:pt>
    <dgm:pt modelId="{4118413C-596D-4096-A7F8-9DBF2F1E0D6B}" type="pres">
      <dgm:prSet presAssocID="{9A230B5C-6E6B-467E-8162-037E075CBB86}" presName="parentLin" presStyleCnt="0"/>
      <dgm:spPr/>
    </dgm:pt>
    <dgm:pt modelId="{DE0A2BE7-E055-4BE9-A24C-B4D7086CF49D}" type="pres">
      <dgm:prSet presAssocID="{9A230B5C-6E6B-467E-8162-037E075CBB86}" presName="parentLeftMargin" presStyleLbl="node1" presStyleIdx="0" presStyleCnt="2"/>
      <dgm:spPr/>
    </dgm:pt>
    <dgm:pt modelId="{9D8E76CD-43F9-472F-A892-72BD619AA6DA}" type="pres">
      <dgm:prSet presAssocID="{9A230B5C-6E6B-467E-8162-037E075CBB86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226A8202-ECAC-4FAB-8198-E803DD526882}" type="pres">
      <dgm:prSet presAssocID="{9A230B5C-6E6B-467E-8162-037E075CBB86}" presName="negativeSpace" presStyleCnt="0"/>
      <dgm:spPr/>
    </dgm:pt>
    <dgm:pt modelId="{5664B4EE-BE71-44A0-BFED-8F1367C5141F}" type="pres">
      <dgm:prSet presAssocID="{9A230B5C-6E6B-467E-8162-037E075CBB86}" presName="childText" presStyleLbl="conFgAcc1" presStyleIdx="0" presStyleCnt="2">
        <dgm:presLayoutVars>
          <dgm:bulletEnabled val="1"/>
        </dgm:presLayoutVars>
      </dgm:prSet>
      <dgm:spPr/>
    </dgm:pt>
    <dgm:pt modelId="{A22B7B0F-F98A-48EA-B0D6-2335A00234B4}" type="pres">
      <dgm:prSet presAssocID="{F41716B8-A080-4012-AD53-54172CD28A8D}" presName="spaceBetweenRectangles" presStyleCnt="0"/>
      <dgm:spPr/>
    </dgm:pt>
    <dgm:pt modelId="{FDC2C328-412E-47D5-B5D5-323D7BB12FA9}" type="pres">
      <dgm:prSet presAssocID="{031DA2A9-8553-43BA-8F72-EC8E1EB754AC}" presName="parentLin" presStyleCnt="0"/>
      <dgm:spPr/>
    </dgm:pt>
    <dgm:pt modelId="{11CF6D80-BD13-4B25-890B-C76E2BEC0FBE}" type="pres">
      <dgm:prSet presAssocID="{031DA2A9-8553-43BA-8F72-EC8E1EB754AC}" presName="parentLeftMargin" presStyleLbl="node1" presStyleIdx="0" presStyleCnt="2"/>
      <dgm:spPr/>
    </dgm:pt>
    <dgm:pt modelId="{CA56247A-21F8-4FAF-9A6C-B77F47EB9763}" type="pres">
      <dgm:prSet presAssocID="{031DA2A9-8553-43BA-8F72-EC8E1EB754AC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580A4621-5CE0-443E-9DCE-6909F9BEC51D}" type="pres">
      <dgm:prSet presAssocID="{031DA2A9-8553-43BA-8F72-EC8E1EB754AC}" presName="negativeSpace" presStyleCnt="0"/>
      <dgm:spPr/>
    </dgm:pt>
    <dgm:pt modelId="{E0DDAE75-74C3-437E-930D-EAC9FE8DEE8D}" type="pres">
      <dgm:prSet presAssocID="{031DA2A9-8553-43BA-8F72-EC8E1EB754AC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2276E305-4F98-4E39-BB8A-53CF0CF722F8}" type="presOf" srcId="{1855858A-6405-48BE-A7E6-D3FE19C4CE98}" destId="{E0DDAE75-74C3-437E-930D-EAC9FE8DEE8D}" srcOrd="0" destOrd="0" presId="urn:microsoft.com/office/officeart/2005/8/layout/list1"/>
    <dgm:cxn modelId="{B2875307-2D0B-46E9-A5D2-0295A6A58C0F}" type="presOf" srcId="{8A513DB5-F21F-4571-BCF5-B10803894CF0}" destId="{78E67501-7A9A-4DB6-8377-CB9FEB050DE3}" srcOrd="0" destOrd="0" presId="urn:microsoft.com/office/officeart/2005/8/layout/list1"/>
    <dgm:cxn modelId="{9F643119-8091-435D-A6C5-59DF6F4F6B95}" srcId="{8A513DB5-F21F-4571-BCF5-B10803894CF0}" destId="{031DA2A9-8553-43BA-8F72-EC8E1EB754AC}" srcOrd="1" destOrd="0" parTransId="{D3CBF833-1AD3-4376-9312-70F622B9C1FE}" sibTransId="{E6119DD6-C93D-443B-B41D-57023A205673}"/>
    <dgm:cxn modelId="{34D18021-171C-4497-9A44-17A34310A0D4}" srcId="{9A230B5C-6E6B-467E-8162-037E075CBB86}" destId="{A97E7723-5599-4EB8-93C4-3976E04863D7}" srcOrd="0" destOrd="0" parTransId="{06EA7743-F736-480E-8F73-205B99206E99}" sibTransId="{C20B82E1-CBEF-4768-A23B-ECF5F0AD26CE}"/>
    <dgm:cxn modelId="{3BF42525-CA5F-4D18-93DA-8B1ABA39CB69}" type="presOf" srcId="{031DA2A9-8553-43BA-8F72-EC8E1EB754AC}" destId="{11CF6D80-BD13-4B25-890B-C76E2BEC0FBE}" srcOrd="0" destOrd="0" presId="urn:microsoft.com/office/officeart/2005/8/layout/list1"/>
    <dgm:cxn modelId="{14AC8C29-1E05-4EB7-9CAA-8F19FDE7C424}" type="presOf" srcId="{9A230B5C-6E6B-467E-8162-037E075CBB86}" destId="{DE0A2BE7-E055-4BE9-A24C-B4D7086CF49D}" srcOrd="0" destOrd="0" presId="urn:microsoft.com/office/officeart/2005/8/layout/list1"/>
    <dgm:cxn modelId="{3DB71632-75C0-4267-8375-2B9EF2A7FB3C}" srcId="{9A230B5C-6E6B-467E-8162-037E075CBB86}" destId="{9E873668-C0DB-4745-AFAF-8B6B649D98BF}" srcOrd="2" destOrd="0" parTransId="{1304139F-6121-49FA-BBE9-9203A6753163}" sibTransId="{030E8DF1-0212-41A8-807B-3DE2895C02F2}"/>
    <dgm:cxn modelId="{46756D5C-227D-4864-BBB5-86DF2AE60809}" type="presOf" srcId="{031DA2A9-8553-43BA-8F72-EC8E1EB754AC}" destId="{CA56247A-21F8-4FAF-9A6C-B77F47EB9763}" srcOrd="1" destOrd="0" presId="urn:microsoft.com/office/officeart/2005/8/layout/list1"/>
    <dgm:cxn modelId="{C4855D64-2B21-40F0-B409-454886F4A594}" srcId="{031DA2A9-8553-43BA-8F72-EC8E1EB754AC}" destId="{1855858A-6405-48BE-A7E6-D3FE19C4CE98}" srcOrd="0" destOrd="0" parTransId="{3DCC9C8B-999F-42F2-8F24-81ADF999836E}" sibTransId="{480DBAA5-43D4-4AB3-A763-5248DFEA03EE}"/>
    <dgm:cxn modelId="{B9C8414A-C31E-4C92-98D7-2F8745276274}" type="presOf" srcId="{9E873668-C0DB-4745-AFAF-8B6B649D98BF}" destId="{5664B4EE-BE71-44A0-BFED-8F1367C5141F}" srcOrd="0" destOrd="2" presId="urn:microsoft.com/office/officeart/2005/8/layout/list1"/>
    <dgm:cxn modelId="{9F71F96F-C163-4556-9861-5BC7AC715EAB}" srcId="{9A230B5C-6E6B-467E-8162-037E075CBB86}" destId="{9D53E049-AC2E-4DA4-BB2F-84178B723A37}" srcOrd="1" destOrd="0" parTransId="{53B8D8BB-B8C0-4F88-BBFA-0379E13BD792}" sibTransId="{A4F7E0F6-F056-4723-BD1C-348D5225A194}"/>
    <dgm:cxn modelId="{95EB7B76-9AF5-4099-BC55-CFFF2623C4BA}" srcId="{031DA2A9-8553-43BA-8F72-EC8E1EB754AC}" destId="{8701AA85-44C7-4137-879E-EDAF9C397FC3}" srcOrd="1" destOrd="0" parTransId="{999EB56A-98E1-40AA-92C5-EF547ABEF347}" sibTransId="{A4D33E8E-6AEC-4F32-9F0F-BC422FDD3D2D}"/>
    <dgm:cxn modelId="{C272F683-B8DB-4434-9EEF-D3DD74C77C29}" type="presOf" srcId="{9D53E049-AC2E-4DA4-BB2F-84178B723A37}" destId="{5664B4EE-BE71-44A0-BFED-8F1367C5141F}" srcOrd="0" destOrd="1" presId="urn:microsoft.com/office/officeart/2005/8/layout/list1"/>
    <dgm:cxn modelId="{519DD88B-46DA-453E-8A04-8DE54724D6F3}" type="presOf" srcId="{8701AA85-44C7-4137-879E-EDAF9C397FC3}" destId="{E0DDAE75-74C3-437E-930D-EAC9FE8DEE8D}" srcOrd="0" destOrd="1" presId="urn:microsoft.com/office/officeart/2005/8/layout/list1"/>
    <dgm:cxn modelId="{865221BD-182A-46F7-BFE1-7B806C7F9AEC}" srcId="{031DA2A9-8553-43BA-8F72-EC8E1EB754AC}" destId="{9A29E80B-C60F-4C81-BB28-7939CDB58654}" srcOrd="2" destOrd="0" parTransId="{7C846AA7-8093-40FC-8D6C-CF665083A7C4}" sibTransId="{7A4E245D-A35E-4244-AFD2-9DEE96D002A9}"/>
    <dgm:cxn modelId="{6142B0C6-7344-41B7-90C1-5B400BB2A72C}" type="presOf" srcId="{A97E7723-5599-4EB8-93C4-3976E04863D7}" destId="{5664B4EE-BE71-44A0-BFED-8F1367C5141F}" srcOrd="0" destOrd="0" presId="urn:microsoft.com/office/officeart/2005/8/layout/list1"/>
    <dgm:cxn modelId="{623574CA-708D-4C17-AE0A-0A6307C56860}" type="presOf" srcId="{9A29E80B-C60F-4C81-BB28-7939CDB58654}" destId="{E0DDAE75-74C3-437E-930D-EAC9FE8DEE8D}" srcOrd="0" destOrd="2" presId="urn:microsoft.com/office/officeart/2005/8/layout/list1"/>
    <dgm:cxn modelId="{FDFCA4D0-1B31-4F53-9A90-B04E9A0F9E72}" type="presOf" srcId="{9A230B5C-6E6B-467E-8162-037E075CBB86}" destId="{9D8E76CD-43F9-472F-A892-72BD619AA6DA}" srcOrd="1" destOrd="0" presId="urn:microsoft.com/office/officeart/2005/8/layout/list1"/>
    <dgm:cxn modelId="{90618EE4-40B7-4DE6-A6F7-84E3AE0730AA}" srcId="{8A513DB5-F21F-4571-BCF5-B10803894CF0}" destId="{9A230B5C-6E6B-467E-8162-037E075CBB86}" srcOrd="0" destOrd="0" parTransId="{63AAD4E2-35BC-4875-8D20-A3B8FC359AA2}" sibTransId="{F41716B8-A080-4012-AD53-54172CD28A8D}"/>
    <dgm:cxn modelId="{3AF94F32-BD6B-430A-8C75-6126E4465393}" type="presParOf" srcId="{78E67501-7A9A-4DB6-8377-CB9FEB050DE3}" destId="{4118413C-596D-4096-A7F8-9DBF2F1E0D6B}" srcOrd="0" destOrd="0" presId="urn:microsoft.com/office/officeart/2005/8/layout/list1"/>
    <dgm:cxn modelId="{61A89C9C-3962-4C7F-9F08-B4B1CD0146D3}" type="presParOf" srcId="{4118413C-596D-4096-A7F8-9DBF2F1E0D6B}" destId="{DE0A2BE7-E055-4BE9-A24C-B4D7086CF49D}" srcOrd="0" destOrd="0" presId="urn:microsoft.com/office/officeart/2005/8/layout/list1"/>
    <dgm:cxn modelId="{4FF51848-B5A4-4A74-826D-DD94C3C7CA97}" type="presParOf" srcId="{4118413C-596D-4096-A7F8-9DBF2F1E0D6B}" destId="{9D8E76CD-43F9-472F-A892-72BD619AA6DA}" srcOrd="1" destOrd="0" presId="urn:microsoft.com/office/officeart/2005/8/layout/list1"/>
    <dgm:cxn modelId="{B0945891-E79C-4C21-A8B5-0BC412F7A508}" type="presParOf" srcId="{78E67501-7A9A-4DB6-8377-CB9FEB050DE3}" destId="{226A8202-ECAC-4FAB-8198-E803DD526882}" srcOrd="1" destOrd="0" presId="urn:microsoft.com/office/officeart/2005/8/layout/list1"/>
    <dgm:cxn modelId="{84589412-7B5D-4978-8E31-379508D2F178}" type="presParOf" srcId="{78E67501-7A9A-4DB6-8377-CB9FEB050DE3}" destId="{5664B4EE-BE71-44A0-BFED-8F1367C5141F}" srcOrd="2" destOrd="0" presId="urn:microsoft.com/office/officeart/2005/8/layout/list1"/>
    <dgm:cxn modelId="{1654BEB5-55B9-4F23-8EB9-A19CAFF7457D}" type="presParOf" srcId="{78E67501-7A9A-4DB6-8377-CB9FEB050DE3}" destId="{A22B7B0F-F98A-48EA-B0D6-2335A00234B4}" srcOrd="3" destOrd="0" presId="urn:microsoft.com/office/officeart/2005/8/layout/list1"/>
    <dgm:cxn modelId="{C1E04EC4-76CE-40BA-BC93-B8489190AA37}" type="presParOf" srcId="{78E67501-7A9A-4DB6-8377-CB9FEB050DE3}" destId="{FDC2C328-412E-47D5-B5D5-323D7BB12FA9}" srcOrd="4" destOrd="0" presId="urn:microsoft.com/office/officeart/2005/8/layout/list1"/>
    <dgm:cxn modelId="{31F214CA-8453-42FB-AB94-CDEB98A1FB9C}" type="presParOf" srcId="{FDC2C328-412E-47D5-B5D5-323D7BB12FA9}" destId="{11CF6D80-BD13-4B25-890B-C76E2BEC0FBE}" srcOrd="0" destOrd="0" presId="urn:microsoft.com/office/officeart/2005/8/layout/list1"/>
    <dgm:cxn modelId="{729AF025-DD4B-4A88-AF2D-4E6C7CEC00F4}" type="presParOf" srcId="{FDC2C328-412E-47D5-B5D5-323D7BB12FA9}" destId="{CA56247A-21F8-4FAF-9A6C-B77F47EB9763}" srcOrd="1" destOrd="0" presId="urn:microsoft.com/office/officeart/2005/8/layout/list1"/>
    <dgm:cxn modelId="{58858E75-A498-4D9F-BB4B-61BD8277A040}" type="presParOf" srcId="{78E67501-7A9A-4DB6-8377-CB9FEB050DE3}" destId="{580A4621-5CE0-443E-9DCE-6909F9BEC51D}" srcOrd="5" destOrd="0" presId="urn:microsoft.com/office/officeart/2005/8/layout/list1"/>
    <dgm:cxn modelId="{D25859FB-B6EF-495F-B58E-198B2204B27B}" type="presParOf" srcId="{78E67501-7A9A-4DB6-8377-CB9FEB050DE3}" destId="{E0DDAE75-74C3-437E-930D-EAC9FE8DEE8D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64B4EE-BE71-44A0-BFED-8F1367C5141F}">
      <dsp:nvSpPr>
        <dsp:cNvPr id="0" name=""/>
        <dsp:cNvSpPr/>
      </dsp:nvSpPr>
      <dsp:spPr>
        <a:xfrm>
          <a:off x="0" y="303839"/>
          <a:ext cx="6338904" cy="2079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1969" tIns="416560" rIns="491969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1" kern="1200" dirty="0"/>
            <a:t>25.65%</a:t>
          </a:r>
          <a:r>
            <a:rPr lang="en-US" sz="1800" kern="1200" dirty="0"/>
            <a:t> of restaurants provide online delivery, which is higher than table booking adoption.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The majority (</a:t>
          </a:r>
          <a:r>
            <a:rPr lang="en-US" sz="1800" b="1" kern="1200" dirty="0"/>
            <a:t>74.35%</a:t>
          </a:r>
          <a:r>
            <a:rPr lang="en-US" sz="1800" kern="1200" dirty="0"/>
            <a:t>) still do not offer delivery services.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Reflects a growing but not fully digital food delivery market.</a:t>
          </a:r>
        </a:p>
      </dsp:txBody>
      <dsp:txXfrm>
        <a:off x="0" y="303839"/>
        <a:ext cx="6338904" cy="2079000"/>
      </dsp:txXfrm>
    </dsp:sp>
    <dsp:sp modelId="{9D8E76CD-43F9-472F-A892-72BD619AA6DA}">
      <dsp:nvSpPr>
        <dsp:cNvPr id="0" name=""/>
        <dsp:cNvSpPr/>
      </dsp:nvSpPr>
      <dsp:spPr>
        <a:xfrm>
          <a:off x="316945" y="8639"/>
          <a:ext cx="4437232" cy="590400"/>
        </a:xfrm>
        <a:prstGeom prst="roundRect">
          <a:avLst/>
        </a:prstGeom>
        <a:solidFill>
          <a:srgbClr val="FF00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67717" tIns="0" rIns="167717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Has Online Delivery :</a:t>
          </a:r>
          <a:endParaRPr lang="en-US" sz="1800" kern="1200" dirty="0"/>
        </a:p>
      </dsp:txBody>
      <dsp:txXfrm>
        <a:off x="345766" y="37460"/>
        <a:ext cx="4379590" cy="532758"/>
      </dsp:txXfrm>
    </dsp:sp>
    <dsp:sp modelId="{E0DDAE75-74C3-437E-930D-EAC9FE8DEE8D}">
      <dsp:nvSpPr>
        <dsp:cNvPr id="0" name=""/>
        <dsp:cNvSpPr/>
      </dsp:nvSpPr>
      <dsp:spPr>
        <a:xfrm>
          <a:off x="0" y="2786039"/>
          <a:ext cx="6338904" cy="2331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1969" tIns="416560" rIns="491969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Only </a:t>
          </a:r>
          <a:r>
            <a:rPr lang="en-US" sz="1800" b="1" kern="1200" dirty="0"/>
            <a:t>12.12%</a:t>
          </a:r>
          <a:r>
            <a:rPr lang="en-US" sz="1800" kern="1200" dirty="0"/>
            <a:t> of restaurants offer table booking, showing very low adoption.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The majority (</a:t>
          </a:r>
          <a:r>
            <a:rPr lang="en-US" sz="1800" b="1" kern="1200" dirty="0"/>
            <a:t>87.88%</a:t>
          </a:r>
          <a:r>
            <a:rPr lang="en-US" sz="1800" kern="1200" dirty="0"/>
            <a:t>) operate without reservation facilities.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Indicates that most restaurants focus more on walk-in or delivery-based services rather than premium dine-in experience.</a:t>
          </a:r>
        </a:p>
      </dsp:txBody>
      <dsp:txXfrm>
        <a:off x="0" y="2786039"/>
        <a:ext cx="6338904" cy="2331000"/>
      </dsp:txXfrm>
    </dsp:sp>
    <dsp:sp modelId="{CA56247A-21F8-4FAF-9A6C-B77F47EB9763}">
      <dsp:nvSpPr>
        <dsp:cNvPr id="0" name=""/>
        <dsp:cNvSpPr/>
      </dsp:nvSpPr>
      <dsp:spPr>
        <a:xfrm>
          <a:off x="316945" y="2490839"/>
          <a:ext cx="4437232" cy="590400"/>
        </a:xfrm>
        <a:prstGeom prst="roundRect">
          <a:avLst/>
        </a:prstGeom>
        <a:solidFill>
          <a:srgbClr val="FF00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67717" tIns="0" rIns="167717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Has Table Booking:</a:t>
          </a:r>
          <a:endParaRPr lang="en-US" sz="1800" kern="1200" dirty="0"/>
        </a:p>
      </dsp:txBody>
      <dsp:txXfrm>
        <a:off x="345766" y="2519660"/>
        <a:ext cx="4379590" cy="53275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6DAAF-3378-4ED8-AE0D-17D2E8F4EBCF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F98C8D14-616F-4551-9F66-56BE815E5E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49606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6DAAF-3378-4ED8-AE0D-17D2E8F4EBCF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C8D14-616F-4551-9F66-56BE815E5E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6894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6DAAF-3378-4ED8-AE0D-17D2E8F4EBCF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F98C8D14-616F-4551-9F66-56BE815E5E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39270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6DAAF-3378-4ED8-AE0D-17D2E8F4EBCF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C8D14-616F-4551-9F66-56BE815E5E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63599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6DAAF-3378-4ED8-AE0D-17D2E8F4EBCF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C8D14-616F-4551-9F66-56BE815E5E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42722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6DAAF-3378-4ED8-AE0D-17D2E8F4EBCF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C8D14-616F-4551-9F66-56BE815E5E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36744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6DAAF-3378-4ED8-AE0D-17D2E8F4EBCF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C8D14-616F-4551-9F66-56BE815E5E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89748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6DAAF-3378-4ED8-AE0D-17D2E8F4EBCF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C8D14-616F-4551-9F66-56BE815E5E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93975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6DAAF-3378-4ED8-AE0D-17D2E8F4EBCF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C8D14-616F-4551-9F66-56BE815E5E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36654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6DAAF-3378-4ED8-AE0D-17D2E8F4EBCF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F98C8D14-616F-4551-9F66-56BE815E5E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29515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6DAAF-3378-4ED8-AE0D-17D2E8F4EBCF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F98C8D14-616F-4551-9F66-56BE815E5E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87109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6DAAF-3378-4ED8-AE0D-17D2E8F4EBCF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F98C8D14-616F-4551-9F66-56BE815E5E00}" type="slidenum">
              <a:rPr lang="en-IN" smtClean="0"/>
              <a:t>‹#›</a:t>
            </a:fld>
            <a:endParaRPr lang="en-IN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436347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6DAAF-3378-4ED8-AE0D-17D2E8F4EBCF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F98C8D14-616F-4551-9F66-56BE815E5E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76080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6DAAF-3378-4ED8-AE0D-17D2E8F4EBCF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C8D14-616F-4551-9F66-56BE815E5E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74032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6DAAF-3378-4ED8-AE0D-17D2E8F4EBCF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C8D14-616F-4551-9F66-56BE815E5E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1773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6DAAF-3378-4ED8-AE0D-17D2E8F4EBCF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C8D14-616F-4551-9F66-56BE815E5E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42011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53E6DAAF-3378-4ED8-AE0D-17D2E8F4EBCF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F98C8D14-616F-4551-9F66-56BE815E5E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61128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E6DAAF-3378-4ED8-AE0D-17D2E8F4EBCF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8C8D14-616F-4551-9F66-56BE815E5E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639530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3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0000"/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4ED97-0152-2D7B-5998-B5F40375B9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5929" y="626036"/>
            <a:ext cx="9144000" cy="1640348"/>
          </a:xfrm>
        </p:spPr>
        <p:txBody>
          <a:bodyPr/>
          <a:lstStyle/>
          <a:p>
            <a:pPr algn="ctr"/>
            <a:r>
              <a:rPr lang="en-IN" b="1">
                <a:solidFill>
                  <a:schemeClr val="bg1"/>
                </a:solidFill>
              </a:rPr>
              <a:t>Zomato Data </a:t>
            </a:r>
            <a:r>
              <a:rPr lang="en-IN" b="1" dirty="0">
                <a:solidFill>
                  <a:schemeClr val="bg1"/>
                </a:solidFill>
              </a:rPr>
              <a:t>Analytics Project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0B93D30-72DF-E007-1416-FDF15A121D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42091" y="2995897"/>
            <a:ext cx="249739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Group 1</a:t>
            </a: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D037B0-409B-7C78-9EF7-6695BDB92544}"/>
              </a:ext>
            </a:extLst>
          </p:cNvPr>
          <p:cNvSpPr txBox="1"/>
          <p:nvPr/>
        </p:nvSpPr>
        <p:spPr>
          <a:xfrm>
            <a:off x="9057243" y="4346769"/>
            <a:ext cx="328224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i="0" dirty="0">
                <a:effectLst/>
                <a:latin typeface="Calibri" panose="020F0502020204030204" pitchFamily="34" charset="0"/>
              </a:rPr>
              <a:t>1) Rahul Vishnu </a:t>
            </a:r>
            <a:r>
              <a:rPr lang="en-IN" b="1" i="0" dirty="0" err="1">
                <a:effectLst/>
                <a:latin typeface="Calibri" panose="020F0502020204030204" pitchFamily="34" charset="0"/>
              </a:rPr>
              <a:t>Shewale</a:t>
            </a:r>
            <a:r>
              <a:rPr lang="en-IN" b="1" dirty="0">
                <a:latin typeface="Calibri" panose="020F0502020204030204" pitchFamily="34" charset="0"/>
              </a:rPr>
              <a:t>             2) </a:t>
            </a:r>
            <a:r>
              <a:rPr lang="en-IN" b="1" dirty="0"/>
              <a:t>Madamanchi Bharath              3)</a:t>
            </a:r>
            <a:r>
              <a:rPr lang="en-IN" b="1" dirty="0" err="1"/>
              <a:t>Aasheesh</a:t>
            </a:r>
            <a:r>
              <a:rPr lang="en-IN" b="1" dirty="0"/>
              <a:t> </a:t>
            </a:r>
            <a:r>
              <a:rPr lang="en-IN" b="1" dirty="0" err="1"/>
              <a:t>Dashore</a:t>
            </a:r>
            <a:r>
              <a:rPr lang="en-IN" b="1" dirty="0"/>
              <a:t> </a:t>
            </a:r>
          </a:p>
          <a:p>
            <a:r>
              <a:rPr lang="en-IN" b="1" dirty="0"/>
              <a:t>4) Kirankumar Mudhol         5) D Yuva Kiran                          6) Rakesh A P                                7) B. Santhosh Kumar</a:t>
            </a:r>
          </a:p>
        </p:txBody>
      </p:sp>
    </p:spTree>
    <p:extLst>
      <p:ext uri="{BB962C8B-B14F-4D97-AF65-F5344CB8AC3E}">
        <p14:creationId xmlns:p14="http://schemas.microsoft.com/office/powerpoint/2010/main" val="18906509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0000"/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4DC5492-CA47-34FA-63B0-E4D075D589E6}"/>
              </a:ext>
            </a:extLst>
          </p:cNvPr>
          <p:cNvSpPr txBox="1"/>
          <p:nvPr/>
        </p:nvSpPr>
        <p:spPr>
          <a:xfrm>
            <a:off x="1478038" y="1645925"/>
            <a:ext cx="8131277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dirty="0">
                <a:solidFill>
                  <a:schemeClr val="bg1"/>
                </a:solidFill>
              </a:rPr>
              <a:t>The Zomato Restaurant Data Analytics Project focuses on analyzing restaurant performance, customer behavior, and service trends using real-world dataset insights.</a:t>
            </a:r>
          </a:p>
          <a:p>
            <a:pPr>
              <a:buNone/>
            </a:pPr>
            <a:endParaRPr lang="en-US" sz="2000" dirty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sz="2000" dirty="0">
                <a:solidFill>
                  <a:schemeClr val="bg1"/>
                </a:solidFill>
              </a:rPr>
              <a:t>This project aims to: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Analyze restaurant distribution across countries and cities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Study customer ratings and voting patterns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Examine pricing strategies (Average Cost for Two)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Evaluate online delivery and table booking services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Identify popular cuisines and growth trends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sz="2000" dirty="0">
                <a:solidFill>
                  <a:schemeClr val="bg1"/>
                </a:solidFill>
              </a:rPr>
              <a:t>By transforming raw data into meaningful insights, this project helps demonstrate how data analytics can support better business decision-making in the food and hospitality industry.</a:t>
            </a:r>
          </a:p>
        </p:txBody>
      </p:sp>
      <p:sp>
        <p:nvSpPr>
          <p:cNvPr id="4" name="Rectangle 3" descr="Covered plate">
            <a:extLst>
              <a:ext uri="{FF2B5EF4-FFF2-40B4-BE49-F238E27FC236}">
                <a16:creationId xmlns:a16="http://schemas.microsoft.com/office/drawing/2014/main" id="{8CDED0C6-7CCE-9D36-8B5A-C61DF9E4F747}"/>
              </a:ext>
            </a:extLst>
          </p:cNvPr>
          <p:cNvSpPr/>
          <p:nvPr/>
        </p:nvSpPr>
        <p:spPr>
          <a:xfrm>
            <a:off x="375035" y="3692639"/>
            <a:ext cx="793654" cy="982648"/>
          </a:xfrm>
          <a:prstGeom prst="rect">
            <a:avLst/>
          </a:prstGeo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2AA0279-334B-91AB-CA6E-D8B8B908944B}"/>
              </a:ext>
            </a:extLst>
          </p:cNvPr>
          <p:cNvSpPr/>
          <p:nvPr/>
        </p:nvSpPr>
        <p:spPr>
          <a:xfrm>
            <a:off x="2187751" y="335579"/>
            <a:ext cx="5643716" cy="859502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4400" dirty="0">
              <a:solidFill>
                <a:schemeClr val="bg1"/>
              </a:solidFill>
            </a:endParaRPr>
          </a:p>
          <a:p>
            <a:pPr algn="ctr"/>
            <a:r>
              <a:rPr lang="en-IN" sz="4400" dirty="0">
                <a:solidFill>
                  <a:schemeClr val="bg1"/>
                </a:solidFill>
              </a:rPr>
              <a:t> Introduction</a:t>
            </a:r>
          </a:p>
          <a:p>
            <a:pPr algn="ctr"/>
            <a:endParaRPr lang="en-IN" sz="4400" dirty="0"/>
          </a:p>
        </p:txBody>
      </p:sp>
      <p:sp>
        <p:nvSpPr>
          <p:cNvPr id="13" name="Rectangle 12" descr="Database">
            <a:extLst>
              <a:ext uri="{FF2B5EF4-FFF2-40B4-BE49-F238E27FC236}">
                <a16:creationId xmlns:a16="http://schemas.microsoft.com/office/drawing/2014/main" id="{4049C1F9-C034-FF4D-9771-FDDE2AA7F763}"/>
              </a:ext>
            </a:extLst>
          </p:cNvPr>
          <p:cNvSpPr/>
          <p:nvPr/>
        </p:nvSpPr>
        <p:spPr>
          <a:xfrm>
            <a:off x="375035" y="1937230"/>
            <a:ext cx="712237" cy="725105"/>
          </a:xfrm>
          <a:prstGeom prst="rect">
            <a:avLst/>
          </a:prstGeom>
          <a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57191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0000"/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F0FA33C-DAAF-6820-A653-9573C45925F6}"/>
              </a:ext>
            </a:extLst>
          </p:cNvPr>
          <p:cNvSpPr txBox="1"/>
          <p:nvPr/>
        </p:nvSpPr>
        <p:spPr>
          <a:xfrm>
            <a:off x="387543" y="1228397"/>
            <a:ext cx="1167523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dirty="0">
                <a:solidFill>
                  <a:schemeClr val="bg1"/>
                </a:solidFill>
              </a:rPr>
              <a:t>The Zomato Restaurant Dataset contains detailed information about restaurants listed </a:t>
            </a:r>
          </a:p>
          <a:p>
            <a:pPr>
              <a:buNone/>
            </a:pPr>
            <a:r>
              <a:rPr lang="en-US" sz="2000" dirty="0">
                <a:solidFill>
                  <a:schemeClr val="bg1"/>
                </a:solidFill>
              </a:rPr>
              <a:t>across multiple countries and cities.</a:t>
            </a:r>
          </a:p>
          <a:p>
            <a:pPr>
              <a:buNone/>
            </a:pPr>
            <a:endParaRPr lang="en-US" sz="2000" dirty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sz="2000" b="1" dirty="0">
                <a:solidFill>
                  <a:schemeClr val="bg1"/>
                </a:solidFill>
              </a:rPr>
              <a:t>🔹 Key Features of the Dataset: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Restaurant Name – </a:t>
            </a:r>
            <a:r>
              <a:rPr lang="en-US" sz="2000" dirty="0">
                <a:solidFill>
                  <a:schemeClr val="bg1"/>
                </a:solidFill>
              </a:rPr>
              <a:t>Unique identity of each restaurant listed on the platform.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City &amp; Country – </a:t>
            </a:r>
            <a:r>
              <a:rPr lang="en-US" sz="2000" dirty="0">
                <a:solidFill>
                  <a:schemeClr val="bg1"/>
                </a:solidFill>
              </a:rPr>
              <a:t>Useful for analyzing geographical distribution and regional</a:t>
            </a:r>
          </a:p>
          <a:p>
            <a:r>
              <a:rPr lang="en-US" sz="2000" dirty="0">
                <a:solidFill>
                  <a:schemeClr val="bg1"/>
                </a:solidFill>
              </a:rPr>
              <a:t> market presence.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Cuisines –</a:t>
            </a:r>
            <a:r>
              <a:rPr lang="en-US" sz="2000" dirty="0">
                <a:solidFill>
                  <a:schemeClr val="bg1"/>
                </a:solidFill>
              </a:rPr>
              <a:t> Lists the types of food offered (e.g., Indian, Chinese, Italian, Fast</a:t>
            </a:r>
          </a:p>
          <a:p>
            <a:r>
              <a:rPr lang="en-US" sz="2000" dirty="0">
                <a:solidFill>
                  <a:schemeClr val="bg1"/>
                </a:solidFill>
              </a:rPr>
              <a:t> Food).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Average Cost for Two</a:t>
            </a:r>
            <a:r>
              <a:rPr lang="en-US" sz="2000" dirty="0">
                <a:solidFill>
                  <a:schemeClr val="bg1"/>
                </a:solidFill>
              </a:rPr>
              <a:t> – Helps categorize restaurants into Low, Medium, and High price segments.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Aggregate Rating – </a:t>
            </a:r>
            <a:r>
              <a:rPr lang="en-US" sz="2000" dirty="0">
                <a:solidFill>
                  <a:schemeClr val="bg1"/>
                </a:solidFill>
              </a:rPr>
              <a:t>Weighted average rating given by customers </a:t>
            </a:r>
            <a:r>
              <a:rPr lang="en-US" sz="2000" b="1" dirty="0">
                <a:solidFill>
                  <a:schemeClr val="bg1"/>
                </a:solidFill>
              </a:rPr>
              <a:t>(0–5 scale).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Votes – </a:t>
            </a:r>
            <a:r>
              <a:rPr lang="en-US" sz="2000" dirty="0">
                <a:solidFill>
                  <a:schemeClr val="bg1"/>
                </a:solidFill>
              </a:rPr>
              <a:t>Total number of users who rated the restaurant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Has Online Delivery</a:t>
            </a:r>
            <a:r>
              <a:rPr lang="en-US" sz="2000" dirty="0">
                <a:solidFill>
                  <a:schemeClr val="bg1"/>
                </a:solidFill>
              </a:rPr>
              <a:t> – Whether the restaurant provides online food delivery service.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Has Table Booking</a:t>
            </a:r>
            <a:r>
              <a:rPr lang="en-US" sz="2000" dirty="0">
                <a:solidFill>
                  <a:schemeClr val="bg1"/>
                </a:solidFill>
              </a:rPr>
              <a:t> – Indicates availability of reservation facility.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309F96D-0F31-8B9C-6B92-463A7605AD41}"/>
              </a:ext>
            </a:extLst>
          </p:cNvPr>
          <p:cNvSpPr/>
          <p:nvPr/>
        </p:nvSpPr>
        <p:spPr>
          <a:xfrm>
            <a:off x="2492601" y="335731"/>
            <a:ext cx="5643716" cy="695849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432000" rtlCol="0" anchor="ctr" anchorCtr="0">
            <a:noAutofit/>
          </a:bodyPr>
          <a:lstStyle/>
          <a:p>
            <a:pPr algn="ctr"/>
            <a:endParaRPr lang="en-IN" sz="3200" dirty="0">
              <a:solidFill>
                <a:schemeClr val="bg1"/>
              </a:solidFill>
            </a:endParaRPr>
          </a:p>
          <a:p>
            <a:pPr algn="ctr"/>
            <a:r>
              <a:rPr lang="en-IN" sz="3200" dirty="0">
                <a:solidFill>
                  <a:schemeClr val="bg1"/>
                </a:solidFill>
              </a:rPr>
              <a:t> </a:t>
            </a:r>
            <a:r>
              <a:rPr lang="en-US" sz="3200" dirty="0">
                <a:solidFill>
                  <a:schemeClr val="bg1"/>
                </a:solidFill>
              </a:rPr>
              <a:t>DATA OVERVIEW</a:t>
            </a:r>
          </a:p>
          <a:p>
            <a:pPr algn="ctr"/>
            <a:endParaRPr lang="en-IN" sz="3200" dirty="0">
              <a:solidFill>
                <a:schemeClr val="bg1"/>
              </a:solidFill>
            </a:endParaRPr>
          </a:p>
          <a:p>
            <a:pPr algn="ctr"/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20903350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87400">
              <a:srgbClr val="FF0000"/>
            </a:gs>
            <a:gs pos="0">
              <a:srgbClr val="FF0000">
                <a:lumMod val="96000"/>
                <a:lumOff val="4000"/>
              </a:srgb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13C84F1-5DD1-EC14-325C-781BE716E789}"/>
              </a:ext>
            </a:extLst>
          </p:cNvPr>
          <p:cNvSpPr/>
          <p:nvPr/>
        </p:nvSpPr>
        <p:spPr>
          <a:xfrm>
            <a:off x="134169" y="320155"/>
            <a:ext cx="5805678" cy="695163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 anchorCtr="0">
            <a:no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</a:rPr>
              <a:t>Top 10 Count by Cuisines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B7441E4-0E90-9C44-41E8-0CD8972AF352}"/>
              </a:ext>
            </a:extLst>
          </p:cNvPr>
          <p:cNvSpPr txBox="1"/>
          <p:nvPr/>
        </p:nvSpPr>
        <p:spPr>
          <a:xfrm>
            <a:off x="386664" y="1348783"/>
            <a:ext cx="5619135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solidFill>
                  <a:schemeClr val="bg1"/>
                </a:solidFill>
              </a:rPr>
              <a:t>The analysis of the Top 10 cuisines reveals that </a:t>
            </a:r>
            <a:r>
              <a:rPr lang="en-US" b="1" dirty="0">
                <a:solidFill>
                  <a:schemeClr val="bg1"/>
                </a:solidFill>
              </a:rPr>
              <a:t>North Indian cuisine dominates</a:t>
            </a:r>
            <a:r>
              <a:rPr lang="en-US" dirty="0">
                <a:solidFill>
                  <a:schemeClr val="bg1"/>
                </a:solidFill>
              </a:rPr>
              <a:t> the dataset with the highest restaurant count (936), indicating strong customer preference and market demand.</a:t>
            </a:r>
          </a:p>
          <a:p>
            <a:pPr>
              <a:buNone/>
            </a:pPr>
            <a:endParaRPr lang="en-US" dirty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dirty="0">
                <a:solidFill>
                  <a:schemeClr val="bg1"/>
                </a:solidFill>
              </a:rPr>
              <a:t>• The second most popular cuisine category is </a:t>
            </a:r>
            <a:r>
              <a:rPr lang="en-US" b="1" dirty="0">
                <a:solidFill>
                  <a:schemeClr val="bg1"/>
                </a:solidFill>
              </a:rPr>
              <a:t>North Indian Chinese (511)</a:t>
            </a:r>
            <a:r>
              <a:rPr lang="en-US" dirty="0">
                <a:solidFill>
                  <a:schemeClr val="bg1"/>
                </a:solidFill>
              </a:rPr>
              <a:t>, followed by </a:t>
            </a:r>
            <a:r>
              <a:rPr lang="en-US" b="1" dirty="0">
                <a:solidFill>
                  <a:schemeClr val="bg1"/>
                </a:solidFill>
              </a:rPr>
              <a:t>Chinese (354)</a:t>
            </a:r>
            <a:r>
              <a:rPr lang="en-US" dirty="0">
                <a:solidFill>
                  <a:schemeClr val="bg1"/>
                </a:solidFill>
              </a:rPr>
              <a:t> and </a:t>
            </a:r>
            <a:r>
              <a:rPr lang="en-US" b="1" dirty="0">
                <a:solidFill>
                  <a:schemeClr val="bg1"/>
                </a:solidFill>
              </a:rPr>
              <a:t>Fast Food (354)</a:t>
            </a:r>
            <a:r>
              <a:rPr lang="en-US" dirty="0">
                <a:solidFill>
                  <a:schemeClr val="bg1"/>
                </a:solidFill>
              </a:rPr>
              <a:t>, highlighting the popularity of both traditional and quick-service dining options.</a:t>
            </a:r>
          </a:p>
          <a:p>
            <a:pPr>
              <a:buNone/>
            </a:pPr>
            <a:endParaRPr lang="en-US" dirty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dirty="0">
                <a:solidFill>
                  <a:schemeClr val="bg1"/>
                </a:solidFill>
              </a:rPr>
              <a:t>• Mid-level cuisines such as </a:t>
            </a:r>
            <a:r>
              <a:rPr lang="en-US" b="1" dirty="0">
                <a:solidFill>
                  <a:schemeClr val="bg1"/>
                </a:solidFill>
              </a:rPr>
              <a:t>Cafe (299)</a:t>
            </a:r>
            <a:r>
              <a:rPr lang="en-US" dirty="0">
                <a:solidFill>
                  <a:schemeClr val="bg1"/>
                </a:solidFill>
              </a:rPr>
              <a:t> and </a:t>
            </a:r>
            <a:r>
              <a:rPr lang="en-US" b="1" dirty="0">
                <a:solidFill>
                  <a:schemeClr val="bg1"/>
                </a:solidFill>
              </a:rPr>
              <a:t>Bakery (218)</a:t>
            </a:r>
            <a:r>
              <a:rPr lang="en-US" dirty="0">
                <a:solidFill>
                  <a:schemeClr val="bg1"/>
                </a:solidFill>
              </a:rPr>
              <a:t> show steady presence, reflecting growing urban lifestyle trends.</a:t>
            </a:r>
          </a:p>
          <a:p>
            <a:pPr>
              <a:buNone/>
            </a:pPr>
            <a:endParaRPr lang="en-US" dirty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dirty="0">
                <a:solidFill>
                  <a:schemeClr val="bg1"/>
                </a:solidFill>
              </a:rPr>
              <a:t>• Overall, the dataset suggests that Indian regional cuisine forms the backbone of restaurant distribution, especially in high-density cities.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93A0A3B-E2A1-03BE-4769-31E8A4253D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9218" y="1733266"/>
            <a:ext cx="6014702" cy="3744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9731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0000"/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1E9DFBC-24AE-5FFF-899D-51F885BC86E6}"/>
              </a:ext>
            </a:extLst>
          </p:cNvPr>
          <p:cNvSpPr/>
          <p:nvPr/>
        </p:nvSpPr>
        <p:spPr>
          <a:xfrm>
            <a:off x="171504" y="299609"/>
            <a:ext cx="5375650" cy="1265334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0" rtlCol="0" anchor="ctr" anchorCtr="0">
            <a:no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ea typeface="Cambria" panose="02040503050406030204" pitchFamily="18" charset="0"/>
              </a:rPr>
              <a:t>Number of Restaurants opening based on Year, Month, Quarters </a:t>
            </a:r>
          </a:p>
          <a:p>
            <a:pPr algn="ctr"/>
            <a:r>
              <a:rPr lang="en-US" sz="2400" b="1" dirty="0">
                <a:solidFill>
                  <a:schemeClr val="bg1"/>
                </a:solidFill>
                <a:ea typeface="Cambria" panose="02040503050406030204" pitchFamily="18" charset="0"/>
              </a:rPr>
              <a:t>                                    </a:t>
            </a:r>
            <a:endParaRPr lang="en-IN" sz="2400" b="1" dirty="0">
              <a:solidFill>
                <a:schemeClr val="bg1"/>
              </a:solidFill>
              <a:ea typeface="Cambria" panose="02040503050406030204" pitchFamily="18" charset="0"/>
            </a:endParaRPr>
          </a:p>
          <a:p>
            <a:endParaRPr lang="en-IN" sz="24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AB36F69-F165-BAEF-F2E1-970456AB8D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7457" y="859168"/>
            <a:ext cx="6437535" cy="216292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549E88F1-AD2C-BB9B-580E-959B4CDFCC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504" y="4089912"/>
            <a:ext cx="5375650" cy="2333265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39B353B2-D7D6-29C2-B5DD-81BF9CAB3E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5706" y="3341806"/>
            <a:ext cx="6461038" cy="224809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3E70287-5E24-B2FB-A884-40AFAADBC443}"/>
              </a:ext>
            </a:extLst>
          </p:cNvPr>
          <p:cNvSpPr txBox="1"/>
          <p:nvPr/>
        </p:nvSpPr>
        <p:spPr>
          <a:xfrm>
            <a:off x="396348" y="1742067"/>
            <a:ext cx="4925961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Restaurant openings show overall growth after a dip in 2012, with peak expansion in 2018. 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Q3 and mid-year months record the highest activity, indicating seasonal expansion trends.</a:t>
            </a:r>
          </a:p>
        </p:txBody>
      </p:sp>
    </p:spTree>
    <p:extLst>
      <p:ext uri="{BB962C8B-B14F-4D97-AF65-F5344CB8AC3E}">
        <p14:creationId xmlns:p14="http://schemas.microsoft.com/office/powerpoint/2010/main" val="2029179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0000"/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E5F6A42-C80F-93DE-7437-527937942585}"/>
              </a:ext>
            </a:extLst>
          </p:cNvPr>
          <p:cNvSpPr txBox="1"/>
          <p:nvPr/>
        </p:nvSpPr>
        <p:spPr>
          <a:xfrm>
            <a:off x="344376" y="1797302"/>
            <a:ext cx="5144866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The majority of restaurants fall in the </a:t>
            </a:r>
            <a:r>
              <a:rPr lang="en-US" b="1" dirty="0">
                <a:solidFill>
                  <a:schemeClr val="bg1"/>
                </a:solidFill>
              </a:rPr>
              <a:t>3–4 rating category (4586)</a:t>
            </a:r>
            <a:r>
              <a:rPr lang="en-US" dirty="0">
                <a:solidFill>
                  <a:schemeClr val="bg1"/>
                </a:solidFill>
              </a:rPr>
              <a:t>, indicating generally good customer satisfaction.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A significant number of restaurants are in the </a:t>
            </a:r>
            <a:r>
              <a:rPr lang="en-US" b="1" dirty="0">
                <a:solidFill>
                  <a:schemeClr val="bg1"/>
                </a:solidFill>
              </a:rPr>
              <a:t>0–2 rating group (2149)</a:t>
            </a:r>
            <a:r>
              <a:rPr lang="en-US" dirty="0">
                <a:solidFill>
                  <a:schemeClr val="bg1"/>
                </a:solidFill>
              </a:rPr>
              <a:t>, showing areas that require quality improvement.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The </a:t>
            </a:r>
            <a:r>
              <a:rPr lang="en-US" b="1" dirty="0">
                <a:solidFill>
                  <a:schemeClr val="bg1"/>
                </a:solidFill>
              </a:rPr>
              <a:t>2–3 rating category (1430)</a:t>
            </a:r>
            <a:r>
              <a:rPr lang="en-US" dirty="0">
                <a:solidFill>
                  <a:schemeClr val="bg1"/>
                </a:solidFill>
              </a:rPr>
              <a:t> represents average-performing restaurants.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Only </a:t>
            </a:r>
            <a:r>
              <a:rPr lang="en-US" b="1" dirty="0">
                <a:solidFill>
                  <a:schemeClr val="bg1"/>
                </a:solidFill>
              </a:rPr>
              <a:t>1380 restaurants</a:t>
            </a:r>
            <a:r>
              <a:rPr lang="en-US" dirty="0">
                <a:solidFill>
                  <a:schemeClr val="bg1"/>
                </a:solidFill>
              </a:rPr>
              <a:t> fall under the </a:t>
            </a:r>
            <a:r>
              <a:rPr lang="en-US" b="1" dirty="0">
                <a:solidFill>
                  <a:schemeClr val="bg1"/>
                </a:solidFill>
              </a:rPr>
              <a:t>4–5 (Excellent)</a:t>
            </a:r>
            <a:r>
              <a:rPr lang="en-US" dirty="0">
                <a:solidFill>
                  <a:schemeClr val="bg1"/>
                </a:solidFill>
              </a:rPr>
              <a:t> category, suggesting limited high-performing establishments.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6F6E924-D761-13A5-9238-B4F47812D57B}"/>
              </a:ext>
            </a:extLst>
          </p:cNvPr>
          <p:cNvSpPr/>
          <p:nvPr/>
        </p:nvSpPr>
        <p:spPr>
          <a:xfrm>
            <a:off x="294334" y="381497"/>
            <a:ext cx="5144866" cy="1041099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0" rtlCol="0" anchor="ctr" anchorCtr="0">
            <a:no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Count of Restaurants by Average Rating –                       </a:t>
            </a:r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1FD8098-5C21-54BF-104A-268783CCDE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1933" y="2150806"/>
            <a:ext cx="6538645" cy="3540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24306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0000"/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A163A1F-F0C3-191C-F905-AF1D444B01BF}"/>
              </a:ext>
            </a:extLst>
          </p:cNvPr>
          <p:cNvSpPr/>
          <p:nvPr/>
        </p:nvSpPr>
        <p:spPr>
          <a:xfrm>
            <a:off x="389868" y="181329"/>
            <a:ext cx="10006644" cy="1041099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0" rtlCol="0" anchor="ctr" anchorCtr="0">
            <a:no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  <a:ea typeface="Cambria" panose="02040503050406030204" pitchFamily="18" charset="0"/>
              </a:rPr>
              <a:t>Percentage of Restaurants based on "Has Table booking.”</a:t>
            </a:r>
          </a:p>
          <a:p>
            <a:pPr algn="ctr"/>
            <a:r>
              <a:rPr lang="en-US" sz="2800" b="1" dirty="0">
                <a:solidFill>
                  <a:schemeClr val="bg1"/>
                </a:solidFill>
                <a:ea typeface="Cambria" panose="02040503050406030204" pitchFamily="18" charset="0"/>
              </a:rPr>
              <a:t>&amp; “Has Online delivery."</a:t>
            </a:r>
            <a:endParaRPr lang="en-IN" sz="2800" b="1" dirty="0">
              <a:solidFill>
                <a:schemeClr val="bg1"/>
              </a:solidFill>
              <a:ea typeface="Cambria" panose="02040503050406030204" pitchFamily="18" charset="0"/>
            </a:endParaRPr>
          </a:p>
        </p:txBody>
      </p:sp>
      <p:graphicFrame>
        <p:nvGraphicFramePr>
          <p:cNvPr id="3" name="TextBox 14">
            <a:extLst>
              <a:ext uri="{FF2B5EF4-FFF2-40B4-BE49-F238E27FC236}">
                <a16:creationId xmlns:a16="http://schemas.microsoft.com/office/drawing/2014/main" id="{BD9AD683-17A0-7835-7C96-3A9DCA72102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5560023"/>
              </p:ext>
            </p:extLst>
          </p:nvPr>
        </p:nvGraphicFramePr>
        <p:xfrm>
          <a:off x="685571" y="1315418"/>
          <a:ext cx="6338904" cy="51256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DF34601E-16DE-C191-5392-ADD559A8EA9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9053" y="1426444"/>
            <a:ext cx="4714666" cy="4969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18963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0000"/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F6B0CF3-6BAC-634B-DC67-88359CCA4BCE}"/>
              </a:ext>
            </a:extLst>
          </p:cNvPr>
          <p:cNvSpPr/>
          <p:nvPr/>
        </p:nvSpPr>
        <p:spPr>
          <a:xfrm>
            <a:off x="709909" y="545270"/>
            <a:ext cx="5958864" cy="973577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0" rtlCol="0" anchor="ctr" anchorCtr="0">
            <a:no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Restaurant Count by Price Range: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D0303DF-AD4D-7FF4-FA0F-6170635CF8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909" y="2023113"/>
            <a:ext cx="5368326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The majority of restaurants (5171) fall under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Below 500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price range, indicating strong dominance of low-cost dining.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500–999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segment (2918) represents the second largest group, showing high demand for affordable mid-range options.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Higher price categories (1000+) have significantly fewer restaurants, indicating limited premium dining presence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7218D3-96ED-F5D4-1C10-36EDC189E7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3504" y="1618307"/>
            <a:ext cx="5681893" cy="4027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2090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777A945-8B21-9B21-F4CD-237E319C13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1" y="0"/>
            <a:ext cx="1218089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06789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0000"/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DD627E1-B7EB-9076-ED47-DFE004F8235F}"/>
              </a:ext>
            </a:extLst>
          </p:cNvPr>
          <p:cNvSpPr/>
          <p:nvPr/>
        </p:nvSpPr>
        <p:spPr>
          <a:xfrm>
            <a:off x="1250155" y="340867"/>
            <a:ext cx="3700479" cy="662557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0" rtlCol="0" anchor="ctr" anchorCtr="0">
            <a:noAutofit/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Recommendations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03FCF7-4DF8-209A-81A4-F4B96CAA3C78}"/>
              </a:ext>
            </a:extLst>
          </p:cNvPr>
          <p:cNvSpPr txBox="1"/>
          <p:nvPr/>
        </p:nvSpPr>
        <p:spPr>
          <a:xfrm>
            <a:off x="1250155" y="1445954"/>
            <a:ext cx="6169819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A large number of restaurants fall in the 0–2 rating category.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Restaurants should improve service quality, hygiene, and customer experience.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</a:endParaRPr>
          </a:p>
          <a:p>
            <a:endParaRPr lang="en-US" sz="2000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Only 25.65% of restaurants offer online delivery.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Expanding delivery partnerships can increase revenue and customer reach.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</a:endParaRPr>
          </a:p>
          <a:p>
            <a:endParaRPr lang="en-US" sz="2000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Majority of restaurants operate in the Below 500 and 500–999 range.</a:t>
            </a:r>
          </a:p>
          <a:p>
            <a:r>
              <a:rPr lang="en-US" sz="2000" dirty="0">
                <a:solidFill>
                  <a:schemeClr val="bg1"/>
                </a:solidFill>
              </a:rPr>
              <a:t>The premium segment has a growth opportunity in metro cities.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164AC9C-7067-C2B8-9B6A-AE869EAC3509}"/>
              </a:ext>
            </a:extLst>
          </p:cNvPr>
          <p:cNvSpPr/>
          <p:nvPr/>
        </p:nvSpPr>
        <p:spPr>
          <a:xfrm>
            <a:off x="1282001" y="1041686"/>
            <a:ext cx="5859029" cy="327744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0" rtlCol="0" anchor="ctr" anchorCtr="0">
            <a:noAutofit/>
          </a:bodyPr>
          <a:lstStyle/>
          <a:p>
            <a:pPr>
              <a:buNone/>
            </a:pPr>
            <a:r>
              <a:rPr lang="en-US" sz="2000" b="1" dirty="0">
                <a:solidFill>
                  <a:schemeClr val="tx1"/>
                </a:solidFill>
              </a:rPr>
              <a:t>Focus on Quality Improvement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80D8BFA-B956-2FC2-11AA-1C4320CAC72D}"/>
              </a:ext>
            </a:extLst>
          </p:cNvPr>
          <p:cNvSpPr/>
          <p:nvPr/>
        </p:nvSpPr>
        <p:spPr>
          <a:xfrm>
            <a:off x="1250155" y="2882576"/>
            <a:ext cx="5859029" cy="301762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0" rtlCol="0" anchor="ctr" anchorCtr="0">
            <a:noAutofit/>
          </a:bodyPr>
          <a:lstStyle/>
          <a:p>
            <a:r>
              <a:rPr lang="en-US" sz="2000" b="1" dirty="0">
                <a:solidFill>
                  <a:schemeClr val="tx1"/>
                </a:solidFill>
              </a:rPr>
              <a:t>Expand Online Delivery Services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B514B98-13A4-F587-DEA0-DEA9B551520E}"/>
              </a:ext>
            </a:extLst>
          </p:cNvPr>
          <p:cNvSpPr/>
          <p:nvPr/>
        </p:nvSpPr>
        <p:spPr>
          <a:xfrm>
            <a:off x="1250155" y="4403945"/>
            <a:ext cx="5859029" cy="327744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0" rtlCol="0" anchor="ctr" anchorCtr="0">
            <a:noAutofit/>
          </a:bodyPr>
          <a:lstStyle/>
          <a:p>
            <a:pPr>
              <a:buNone/>
            </a:pPr>
            <a:r>
              <a:rPr lang="en-US" sz="2000" dirty="0"/>
              <a:t> Strengthen Mid-Range Pricing Strategy</a:t>
            </a:r>
            <a:endParaRPr lang="en-US" sz="2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74985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0000"/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78CEA64-FEE7-81BE-479C-5DBBC325A3C1}"/>
              </a:ext>
            </a:extLst>
          </p:cNvPr>
          <p:cNvSpPr txBox="1"/>
          <p:nvPr/>
        </p:nvSpPr>
        <p:spPr>
          <a:xfrm>
            <a:off x="466125" y="1901007"/>
            <a:ext cx="10351536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100" dirty="0">
                <a:solidFill>
                  <a:schemeClr val="bg1"/>
                </a:solidFill>
              </a:rPr>
              <a:t>The analysis of the Zomato restaurant dataset provides valuable insights into restaurant distribution, pricing strategy, customer ratings, service adoption, and growth trends.</a:t>
            </a:r>
          </a:p>
          <a:p>
            <a:pPr>
              <a:buNone/>
            </a:pPr>
            <a:endParaRPr lang="en-US" sz="2100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100" b="1" dirty="0">
                <a:solidFill>
                  <a:schemeClr val="bg1"/>
                </a:solidFill>
              </a:rPr>
              <a:t>Online delivery adoption is growing</a:t>
            </a:r>
            <a:r>
              <a:rPr lang="en-US" sz="2100" dirty="0">
                <a:solidFill>
                  <a:schemeClr val="bg1"/>
                </a:solidFill>
              </a:rPr>
              <a:t>, while table booking remains limited.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100" dirty="0">
                <a:solidFill>
                  <a:schemeClr val="bg1"/>
                </a:solidFill>
              </a:rPr>
              <a:t>Restaurant openings follow a </a:t>
            </a:r>
            <a:r>
              <a:rPr lang="en-US" sz="2100" b="1" dirty="0">
                <a:solidFill>
                  <a:schemeClr val="bg1"/>
                </a:solidFill>
              </a:rPr>
              <a:t>seasonal and mid-year growth trend</a:t>
            </a:r>
            <a:r>
              <a:rPr lang="en-US" sz="2100" dirty="0">
                <a:solidFill>
                  <a:schemeClr val="bg1"/>
                </a:solidFill>
              </a:rPr>
              <a:t>.</a:t>
            </a:r>
          </a:p>
          <a:p>
            <a:endParaRPr lang="en-US" sz="2100" dirty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sz="2100" dirty="0">
                <a:solidFill>
                  <a:schemeClr val="bg1"/>
                </a:solidFill>
              </a:rPr>
              <a:t>Overall, this project demonstrates how data analytics can transform raw data into actionable business insights, supporting strategic decision-making in the food and hospitality industry.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D052012-3893-6ABC-02B4-9826A94651C5}"/>
              </a:ext>
            </a:extLst>
          </p:cNvPr>
          <p:cNvSpPr/>
          <p:nvPr/>
        </p:nvSpPr>
        <p:spPr>
          <a:xfrm>
            <a:off x="535446" y="895562"/>
            <a:ext cx="3700479" cy="662557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0" rtlCol="0" anchor="ctr" anchorCtr="0">
            <a:noAutofit/>
          </a:bodyPr>
          <a:lstStyle/>
          <a:p>
            <a:pPr algn="ctr"/>
            <a:r>
              <a:rPr lang="en-IN" sz="2800" dirty="0">
                <a:solidFill>
                  <a:schemeClr val="bg1"/>
                </a:solidFill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11686690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0000"/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rgbClr val="FF0000"/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2989F045-9786-5254-712B-8A1D9106961B}"/>
              </a:ext>
            </a:extLst>
          </p:cNvPr>
          <p:cNvSpPr/>
          <p:nvPr/>
        </p:nvSpPr>
        <p:spPr>
          <a:xfrm>
            <a:off x="1676400" y="1133475"/>
            <a:ext cx="7800975" cy="4352925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>
                <a:solidFill>
                  <a:schemeClr val="bg1"/>
                </a:solidFill>
              </a:rPr>
              <a:t>Thank You</a:t>
            </a:r>
            <a:endParaRPr lang="en-IN" sz="5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6692759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470</TotalTime>
  <Words>836</Words>
  <Application>Microsoft Office PowerPoint</Application>
  <PresentationFormat>Widescreen</PresentationFormat>
  <Paragraphs>91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Cambria</vt:lpstr>
      <vt:lpstr>Trebuchet MS</vt:lpstr>
      <vt:lpstr>Berlin</vt:lpstr>
      <vt:lpstr>Zomato Data Analytics Project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Rahul Shewale</dc:creator>
  <cp:lastModifiedBy>Karthik Madhamanchi</cp:lastModifiedBy>
  <cp:revision>11</cp:revision>
  <dcterms:created xsi:type="dcterms:W3CDTF">2026-02-12T06:18:44Z</dcterms:created>
  <dcterms:modified xsi:type="dcterms:W3CDTF">2026-02-13T12:52:09Z</dcterms:modified>
</cp:coreProperties>
</file>